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Patio / Cubierta de Honor — Explanada Ceremonial y Punto de Reunión R-1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Proyecto 05 del Plan Maestro UMC 2025–2030 · Restauración patrimonial post-sísmica · Presentación para el Consejo Universitario y el Rectorado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1.625,00 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de explanada patrimonial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5577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5577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5577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5577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del pavimento con daño D2–D4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3954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3954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3954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1.300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3954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cadetes en formación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2331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22331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2331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≈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2331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meses de ejecución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0708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10708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708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0,57 – 0,90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708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MUSD · ROM Clase 5 (neto–integral)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3172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Cap. Alt. / Dr. Guillermo Antonio Riut Hernández – Rector · 26 de octubre de 2026 · Expediente UMC2030-P05-EXTPCH-R01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1 / 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Cómo leer esta presentación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Naturaleza, alcance y límites del 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QUÉ ES — El desarrollo en nivel de INGENIERÍA BÁSICA / ANTEPROYECTO de la restauración integral del Patio / Cubierta de Honor (EXT-PCH-04): programa, geometría, diagnóstico post-sísmico, estimación ROM, cronograma y riesgos.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QUÉ ES — Un instrumento para decidir y la base técnica para contratar la topografía (TLS), la geotecnia, la videoinspección de colectores y la ingeniería de detalle.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QUÉ NO ES — No es un proyecto ejecutivo: no contiene cálculo estructural del pavimento, memorias firmadas ni planos de replanteo.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QUÉ NO ES — No es apto para replanteo ni construcción, y no sustituye permisos ni la autorización del órgano de patrimonio.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QUÉ NO ES — No acredita inspección realizada: el mapa espacial de daño es hipótesis de trabajo sujeta a TLS (RFI-PAT-01).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Siglas y abreviaturas de la exposición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Guía de lectura rápida: todos los términos de esta exposición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AACE — Association for the Advancement of Cost Engineering (clases de estimación) · AIM — Asset Information Model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BOQ — Bill of Quantities: cómputos y presupuesto · C250 — clase de carga de rejilla (EN 124, referencial)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CDE — Entorno Común de Datos BIM · COVENIN — Comisión Venezolana de Normas Industriales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D0–D4 — escala referencial de daño post-sísmico (adaptada ATC-20/condición de pavimentos)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EXT-PCH-04 — código funcional del Patio / Cubierta de Honor · HBIM — Heritage BIM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IEC 62305 — protección contra descargas atmosféricas · IP66/IP67/IK10 — grados de protección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MOP — Ministerio de Obras Públicas (archivo 1951, Malaussena) · MR — módulo de rotura del concreto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NPT — Nivel de Piso Terminado (±0,000 = foyer del Aula Magna) · OMI/STCW — convenios marítimos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OMM — Organización Meteorológica Mundial · PDC — penetrómetro dinámico de cono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PEAD SN8 — polietileno de alta densidad, rigidez anular 8 kN/m² · R-1 — punto de reunión primario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RFI — Request for Information (17 en R01) · ROM — Rough Order of Magnitude (−25 %/+40 %)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SPDA — sistema de protección contra descargas atmosféricas · TLS — escaneo láser terrestre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Tr — período de retorno (25 años) · UTM — Universal Transverse Mercator (huso 19N)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8134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>
                <a:solidFill>
                  <a:srgbClr val="8A9AAA"/>
                </a:solidFill>
                <a:latin typeface="Calibri"/>
              </a:rPr>
              <a:t>Fuente: anexo C del expediente R01 (§27), ampliado con los términos propios de esta exposición.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Contenido de la exposición ante el Consejo Universitario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7295" cy="236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Bloque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Láminas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Marco, patrimonio y evento sísmico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5 –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El objeto: implantación, ficha y programa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8 – 12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Diagnóstico y doctrina de intervención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13 –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Ingeniería: pavimento, drenaje, eléctrica, asta/OMM, redes, Industria 5.0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16 – 22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Evacuación R-1, interfaces, especificaciones, inversión, plazos y riesgos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23 – 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Condición de emisión y acuerdos solicitados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30 – 32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Marco: el Plan Maestro UMC 2025–2030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Instrumento rector y posición del Proyecto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El Plan Maestro declara doce proyectos estratégicos; este expediente desarrolla el quinto: la restauración del espacio ceremonial central de la Proa.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Se coordina como un solo modelo de implantación con el Proyecto 01 (Torre A – STCW), el Proyecto 02 (Torre B – CDP), el Proyecto 03 (Vicerrectorado) y el Proyecto 04 (Torre de Observación y Sala Técnica).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El corredor tecnológico-administrativo y el corredor de redes enterrado son infraestructura común que este proyecto no modifica; la acometida se toma mediante cámara propia.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Autoría del documento fuente: Prof. Jhonny Da Silva Izquierdo (MSc. Ing. Lic., CIV 95787).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Ningún plano de este proyecto modifica la implantación general del Plan Maestro sin revisión aprobada del Plan de Implantación.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Patrimonio: la Escuela Náutica de Venezuela y Malaussena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El valor que se protege: modernidad venezolana 1951–1958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7295" cy="236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Registro documental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Denominación original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Plaza de Armas de la Escuela Náutica de Venezuela («Catia La Mar»)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Arquitecto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Luis Raimundo Malaussena Andueza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Estructural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Oficina Técnica Gutiérrez &amp; Co. S.A.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Contratante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MOP – Dirección de Edificios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Cronología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proyecto estructural 28-08-1951 (15 DF 30 · 8.DF.2.364) · urbanismo 24-10-1953 (P04-L5-A) · obras 1956–1958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Archivo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198 PDF y 487 fotografías (Portaplanos Nº 01–05; 26 láminas/series pertinentes al patio — entregable E1)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8134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>
                <a:solidFill>
                  <a:srgbClr val="8A9AAA"/>
                </a:solidFill>
                <a:latin typeface="Calibri"/>
              </a:rPr>
              <a:t>El patio fue concebido el 28-08-1951 como una sola pieza con las Fracciones 1 y 2: la explanada que el Aula Magna y la Torre enmarcan. Registro histórico: Lámina 3 de PATIO_HONOR CATASTRO.pdf.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El doblete sísmico del 24 de junio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Condición de partida: explanada INHABILITADA y punto R-1 suspendido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M 7,2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primer evento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5577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5577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5577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M 7,5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5577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segundo evento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3954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3954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3954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24-06-2026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3954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fecha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2331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22331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2331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D4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2331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daño máximo (inducido)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0708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10708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708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708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personas: uso suspendido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31720"/>
            <a:ext cx="11094415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El segundo evento, de mayor magnitud, actuó sobre losas ya fisuradas: el daño del pavimento es acumulativo y cubre el 100 % de la poligonal (D3 680,00 m² · D2 565,00 m² · D4 380,00 m²).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El borde Babor recibió el impacto de escombros de la Torre de Observación (coronación +22,02 m): zona de exclusión vigente, alcance transferido al P04.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Clasificación de uso propuesta: INHABILITADO para paradas y desfiles; función R-1 SUSPENDIDA sin alterno designado → RFI-EVA-01 (CRÍTICA).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Evidencia forense: Lámina 4 «POST SISMO» de PATIO_HONOR CATASTRO.pdf + dictamen de la Ficha EXT-PCH-04 (entregable E5). No se fabrican imágenes.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Implantación de la Proa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Un solo conjunto ceremonial entre las tres fracciones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Explanada de 50,00 × 32,50 m enmarcada por la Fracción 1 (Aula Magna, NPT ±0,000), la Fracción 2 (13 módulos × 4,00 m = 52,00 m) y la Fracción 3 (dormitorios).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Borde Babor: Torre CUL-TOO-02 y Sala ACA-STH-15 (Proyecto 04) a 34,81 m del centroide (ΔE +32,21 / ΔN −13,21).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Centroide UTM 19N: E 715.324,40 / N 1.172.523,10 (10°36'02,55"N · 67°01'55,20"O) · BM-UMC-01 por establecer.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Vialidad de emergencia perimetral preservada íntegra durante toda la obra.</a:t>
            </a:r>
          </a:p>
        </p:txBody>
      </p:sp>
      <p:pic>
        <p:nvPicPr>
          <p:cNvPr id="7" name="Picture 6" descr="UMC2030-P05-EXTPCH-R01_FIGURA-G01_IMPLANTACION-GENERAL-DE-LA-PROA-CEN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660" y="3017520"/>
            <a:ext cx="5286375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El emblema vigente: la cubierta de 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La explanada de honor: el valor ceremonial que el proyecto protege y restituye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El plano horizontal donde la institución forma, pasa revista y gradúa a sus oficiales frente al asta del Pabellón: paradas navales, graduaciones OMI/STCW, izada y arriada diarias.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El registro histórico (1951–1959) documenta la explanada en pleno uso: formaciones de cadetes, el asta mayor, el frente del Auditorio y los corredores cubiertos EXT-CTC-15.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La Cubierta de Honor opera además como Punto de Reunión y Evacuación Sísmica Primario R-1 del Sector Proa (1.080–1.625 personas).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Contraste documental: la misma composición en la fotografía histórica de Malaussena y en el registro institucional UMC 2026 (anexo D del expediente).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8134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>
                <a:solidFill>
                  <a:srgbClr val="8A9AAA"/>
                </a:solidFill>
                <a:latin typeface="Calibri"/>
              </a:rPr>
              <a:t>Registro fotográfico: Lámina 3 (histórico) y Lámina 4 (post-sismo) de PATIO_HONOR CATASTRO.pdf — Drive institucional.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El Patio / Cubierta de Honor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Ficha del objeto · EXT-PCH-04 · UMC-ED-000 (normalización UMC-EXT-004 en trámite, RFI-COD-05)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D2C54"/>
                </a:solidFill>
                <a:latin typeface="Calibri"/>
              </a:rPr>
              <a:t>50,00 × 32,50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poligonal pavimentada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5577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5577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5577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1.625,00 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5577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= 100 % del objeto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3954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3954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3954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±0,000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3954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NPT (foyer Fracción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2331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22331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2331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1,2 – 1,5 %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2331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pendiente pluvial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0708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10708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708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12,00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708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Asta Mayor Ceremonial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31720"/>
            <a:ext cx="1109441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Pavimento rígido con acabado granítico / cemento martelinado de 1951, modulado sobre la retícula estructural de 4,00 m.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Interfaz dual EXT (Espacios Exteriores) / CUL (Área Cultural y Ceremonial) · sector Proa Central.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Geometría verificada por el propio inventario: 13 módulos × 4,00 m = 52,00 m de crujía (P04-L5-A, P0102-L6-F/H/I); huella neta 50,00 × 32,50 = 1.625,00 m² ✔.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Elementos asociados: asta mayor (12,00 m), tribuna de honor (RFI-PRO-01), mástil OMM nuevo (10,00 m).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Programa funcional y zonificación ceremonial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La explanada organizada para formar, desfilar y evacuar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7295" cy="236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Zona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Ubicación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Magnitud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Función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Campo de formación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centro de la poligonal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1.300 cadetes a 1,25 m²/ef.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formaciones por compañías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Eje ceremonial e izada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eje del asta, frente F1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franja ≈ 6 m [HIPÓTESIS]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izada/arriada del Pabellón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Banda de Protocolo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borde occidental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210,00 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ceremonial (interfaz P04, sin partidas P05)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Tribuna de Honor y podio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frente Estribor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por dimensionar (RFI-PRO-01)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autoridades; podio accesible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Punto R-1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toda la explanada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1.080 – 1.625 personas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evacuación sísmica del Sector Proa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Parcela OMM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cuadrante NE [HIPÓTESIS]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mástil 10,00 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estación de superficie (interfaz P04)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8134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>
                <a:solidFill>
                  <a:srgbClr val="8A9AAA"/>
                </a:solidFill>
                <a:latin typeface="Calibri"/>
              </a:rPr>
              <a:t>Distribución espacial: hipótesis de anteproyecto (figura G-05 y lámina P-6 del expediente).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Cuadro de áreas y conciliación con el Proyecto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Conjuntos anidados: prohibida la doble presupuestación (regla R4)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1.625,00 m² totales ⊃ 380,00 m² del borde occidental (23,38 %, en BOQ P04-R02) ⊃ 210,00 m² de Banda de Protocolo · explanada remanente neta: 1.245,00 m² (76,62 %).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Verificación: 380,00 + 1.245,00 = 1.625,00 ✔ — los subconjuntos NO se suman entre sí.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Deducción económica asociada: USD 330.000 ya presupuestados en el P04 (banda 260.000 – 400.000).</a:t>
            </a:r>
          </a:p>
        </p:txBody>
      </p:sp>
      <p:pic>
        <p:nvPicPr>
          <p:cNvPr id="7" name="Picture 6" descr="UMC2030-P05-EXTPCH-R01_FIGURA-G03_CONCILIACION-DE-AREAS-ANIDADAS-1-625-380-210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916" y="2715768"/>
            <a:ext cx="5757862" cy="3685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Diagnóstico patológico post-sísmico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Evaluación preliminar por zonas: el 100 % del pavimento afectado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D3 SEVERO — 680,00 m² (41,85 %): fractura diagonal de paños y escalonamientos de 1,5–4,5 cm → demolición y reposición con reintegración.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D2 MODERADO — 565,00 m² (34,77 %): fisuración y pérdida de sellos → reparación de juntas y resellado integral.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D4 INDUCIDO — 380,00 m² (23,38 %): impacto de escombros de la Torre (borde Babor) → TRANSFERIDO a P04.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Subbase y rellenos asentados sobre trincheras; colectores de ≈ 75 años con fuga/colapso presunto; sellos de juntas (≈ 980 m) perdidos; asta por inspeccionar.</a:t>
            </a:r>
          </a:p>
        </p:txBody>
      </p:sp>
      <p:pic>
        <p:nvPicPr>
          <p:cNvPr id="7" name="Picture 6" descr="UMC2030-P05-EXTPCH-R01_FIGURA-G07_MAPA-DE-DANO-POST-SISMICO-D2-D3-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404" y="3319272"/>
            <a:ext cx="4814887" cy="3081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Doctrina de intervención patrimonial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Conservar · consolidar · reintegrar · reponer · sustituir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CONSERVAR los paños D0–D1 que la inspección de detalle confirme sanos.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CONSOLIDAR bordes, brocales y franjas de transición originales.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REINTEGRAR el acabado granítico/martelinado con mortero y granulometría compatibles.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REPONER los paños D3 con losa contemporánea distinguible mediante JUNTA-TESTIGO DATADA — distinguibilidad de lo contemporáneo, sin falsificación histórica.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SUSTITUIR las redes enterradas agotadas (colectores PEAD SN8, red eléctrica).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Los fragmentos del acabado original con valor documental se registran e integran al archivo patrimonial; la doctrina se somete al órgano de patrimonio cultural (normativa citada como referencia a verificar).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Registro patológico E5: siete fichas de daño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Escala D0–D4 declarada referencial (adaptada ATC-20 / condición de pavimentos)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7295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Elemento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Grado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Decisión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PAT-01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Paños centrales (680,00 m²)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D3 — severo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demoler y reponer con reintegración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PAT-02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Paños orientales (565,00 m²)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D2 — moderado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reparar juntas + resellado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PAT-03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Borde Babor (380,00 m²)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D4 — inducido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transferido a P04 (condición suspensiva)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PAT-04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Subbase y rellenos s/ trincheras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asentamiento dif.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sanear + recompactar + geotextil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PAT-05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Colectores enterrados (≈ 140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fuga/colapso presunto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sustituir por PEAD SN8 + estanqueidad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PAT-06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Sellos y flejes (≈ 980 m)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envejecimiento + sismo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resellado elastomérico integral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PAT-07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Asta Mayor y pedestal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por inspeccionar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restaurar/reponer s/ inspección (RFI-PAT-02)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8134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>
                <a:solidFill>
                  <a:srgbClr val="8A9AAA"/>
                </a:solidFill>
                <a:latin typeface="Calibri"/>
              </a:rPr>
              <a:t>Inspecciones requeridas: TLS (RFI-PAT-01) · calicatas + PDC (RFI-GEOT-01) · videoinspección + estanqueidad (RFI-PAT-03) · georradar (RFI-PAT-04).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Ingeniería del pavimento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Paquete estructural propuesto y retícula de juntas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Losa de concreto (MR y espesor por calcular; preliminar e ≈ 15–18 cm [HIPÓTESIS]) sobre subbase granular mejorada y saneada (e ≈ 20–30 cm [HIPÓTESIS]) — ambos CONDICIONADOS a la geotecnia (RFI-GEOT-01).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Paños de vaciado compatibles con la retícula de 4,00 m (≈ 4,00 × 5,00 m [HIPÓTESIS]); juntas de contracción selladas en ambas direcciones.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Juntas sísmicas de desacople losa–Fracciones 1/2 y losa–cabezales piloteados: e = 25–50 mm, ≈ 980 m de sellado elastomérico PU.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Reintegración del acabado granítico/martelinado con paños piloto aprobados antes de la producción.</a:t>
            </a:r>
          </a:p>
        </p:txBody>
      </p:sp>
      <p:pic>
        <p:nvPicPr>
          <p:cNvPr id="7" name="Picture 6" descr="UMC2030-P05-EXTPCH-R01_FIGURA-G06_SECCION-CONSTRUCTIVA-DEL-PAVIMENTO-EXISTENTE-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47" y="3621024"/>
            <a:ext cx="4343400" cy="27797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Geotecnia y saneamiento de subbase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La causa raíz del daño se verifica antes de decidir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Hipótesis de causa: densificación/licuación local de rellenos sobre zanjas; pérdida de soporte por fuga de colectores antiguos; ausencia de desacople sísmico; envejecimiento de sellos; impacto de escombros en Babor.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Campaña Fase A (≈ 2 meses): calicatas + PDC en subbase y rellenos; videoinspección y prueba de estanqueidad de colectores; georradar de trincheras; TLS del pavimento (mapa real de escalonamientos).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Saneamiento: retiro de rellenos inadecuados, recompactación controlada y geotextil de separación.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Ninguna decisión estructural definitiva se toma sin cerrar RFI-GEOT-01 y RFI-PAT-01…04.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Drenaje pluvial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Instalación crítica: el patio como activo de resiliencia del Sector Proa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D2C54"/>
                </a:solidFill>
                <a:latin typeface="Calibri"/>
              </a:rPr>
              <a:t>73,13 / 145 L/s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caudal propio / con faldones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5577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5577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5577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Tr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5577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años, período de retorno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3954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3954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3954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180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3954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canaletas con rejilla C250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2331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22331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2331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140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2331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PEAD SN8 Ø 300–400 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0708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10708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708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708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tanquillas/sumideros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31720"/>
            <a:ext cx="11094415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Canaletas lineales perimetrales con rejilla clase C250 antivandálica; colectores PEAD doble pared SN8 con prueba de estanqueidad obligatoria.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Descarga coordinada con el canal y la toma de quebrada documentados en el Paquete 05 del archivo (láminas R-19/R-20).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Pendiente superficial restituida: 1,2 – 1,5 % (diseño original 1,0 – 1,5 % s/ P03-ENV-002).</a:t>
            </a:r>
          </a:p>
        </p:txBody>
      </p:sp>
      <p:pic>
        <p:nvPicPr>
          <p:cNvPr id="27" name="Picture 26" descr="UMC2030-P05-EXTPCH-R01_FIGURA-G08_ESQUEMA-DE-DRENAJE-PLUV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8" y="3767328"/>
            <a:ext cx="4114799" cy="2633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Eléctrica, alumbrado y protección atmosférica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Red subterránea nueva con juntas sísmicas flexibles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12 luminarias LED marinas IP66 / IK10 (100–150 lux) + alumbrado de emergencia autónomo del punto R-1.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2 cajas de piso IP67 para la Banda de Protocolo (megafonía y servicios de actos).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Bancadas PVC/PEAD Ø 4" con juntas sísmicas; sustituye la red histórica P03-L3-B (1951).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Malla de puesta a tierra R ≤ 5 Ω y SPDA del asta y del mástil según IEC 62305.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Telegestión y medición dedicada integradas al BMS/EMS del campus (CDP – Torre B).</a:t>
            </a:r>
          </a:p>
        </p:txBody>
      </p:sp>
      <p:pic>
        <p:nvPicPr>
          <p:cNvPr id="7" name="Picture 6" descr="UMC2030-P05-EXTPCH-R01_FIGURA-G09_UNIFILAR-ELECTRICO-Y-PROTECCION-ATMOSFE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660" y="3017520"/>
            <a:ext cx="5286375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Asta Mayor Ceremonial y Mástil OMM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Los dos verticales del plano ceremonial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12,00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Asta Mayor (partida E3.03)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7671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7671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7671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10,00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7671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Mástil OMM nuevo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2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2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≤ 5 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malla de tierra común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8613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8613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8613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22,02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8613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Torre colindante (contexto P04)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11094415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Asta: fundación independiente, pedestal de concreto visto, drizas navales y podio de protocolo accesible; restauración o reposición según inspección (RFI-PAT-02).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Mástil OMM: parcela de sensores con cerramiento bajo; emplazamiento condicionado al estudio de obstáculos del borde Babor (RFI-OMM-01).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Telemetría integrada a la estación hidrometeorológica del P04 (Sala ACA-STH-15): un solo sistema de adquisición y registro — prohibida la duplicación (regla R12).</a:t>
            </a:r>
          </a:p>
        </p:txBody>
      </p:sp>
      <p:pic>
        <p:nvPicPr>
          <p:cNvPr id="23" name="Picture 22" descr="UMC2030-P05-EXTPCH-R01_FIGURA-G10_EMPLAZAMIENTO-DEL-MASTIL-OMM-Y-ELEMENTOS-VER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935" y="4370832"/>
            <a:ext cx="3171825" cy="20299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Redes, TIC y seguridad electrónica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El patio conectado al Campus-Buque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Canalización subterránea de reserva TIC en las mismas bancadas eléctricas (separación normativa), con enlace al CDP / Torre B.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Megafonía protocolar (cajas de piso + perímetro) y CCTV de explanada con grabación en el CDP.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Protección antivandálica: luminarias IK10, rejillas atornilladas antirrobo, cerramiento bajo del mástil.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Gestión de multitudes en graduaciones (1.625 personas): separación de flujos protocolares y públicos; control perimetral removible en actos.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Industria 5.0: HBIM y gemelo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Del plano MOP 1951 al gemelo digital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Nube de puntos TLS del estado 2026 + restitución del estado 1951 desde las 26 láminas del listado E1 → modelo HBIM federado en el CDE con estados (1951 · 2026 · proyecto).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Codificación documental UMC-[ACTIVO]-[DISCIPLINA]-[NÚMERO]-[REV]; base GIS/BIM con el desdoblamiento catastral UMC-EXT-004 / UMC-ED-000-PCH04 (RFI-COD-05).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Sensorización: hitos de asentamiento en paños repuestos, niveles en tanquillas, pluviómetro del mástil, conteo de aforo en actos.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Enfoque humanocéntrico: el cadete en formación, el operador de mantenimiento y la seguridad de evacuación son los usuarios de diseño.</a:t>
            </a:r>
          </a:p>
        </p:txBody>
      </p:sp>
      <p:pic>
        <p:nvPicPr>
          <p:cNvPr id="7" name="Picture 6" descr="UMC2030-P05-EXTPCH-R01_FIGURA-G11_ESTRATEGIA-HBIM-GEMELO-DIG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891" y="3922776"/>
            <a:ext cx="3871912" cy="2478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Accesibilidad, aforo y evacuación R-1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Capítulo crítico de seguridad humana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1.300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cadetes (1,25 m²/ef.)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7671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7671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7671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1.625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7671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personas en actos (1,00 m²/p.)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2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2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D2C54"/>
                </a:solidFill>
                <a:latin typeface="Calibri"/>
              </a:rPr>
              <a:t>1.080 – 1.625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capacidad punto R-1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8613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8613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8613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8613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hoy: R-1 suspendido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1109441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Rutas de aproximación desde las Fracciones 1, 2 y 3 y corredores EXT-CTC-15; señalización COVENIN 810/187; franjas podotáctiles Fondonorma 2733; itinerario accesible al podio.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CONDICIÓN TRANSITORIA CRÍTICA: con el patio inhabilitado, las fuentes NO identifican punto R-1 alterno para el Sector Proa → RFI-EVA-01, prioridad MÁXIMA, responsable Planta Física + Seguridad Integral.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El punto alterno debe estar designado y señalizado ANTES del inicio de obra y mantenerse durante toda la ejecución.</a:t>
            </a:r>
          </a:p>
        </p:txBody>
      </p:sp>
      <p:pic>
        <p:nvPicPr>
          <p:cNvPr id="23" name="Picture 22" descr="UMC2030-P05-EXTPCH-R01_FIGURA-G12_PLANO-DE-EVACUACION-R-1-Y-AFO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191" y="4069080"/>
            <a:ext cx="3643312" cy="2331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Obras exteriores e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Matriz de coordinación del Proyecto 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7295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Interfaz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Objeto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Regla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 ↔ P04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380,00 m² borde Babor · Banda 210,00 m² · Torre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condición suspensiva + deducción USD 330.000 · lámina P-9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 ↔ Fracción 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foyer NPT ±0,000, frente ceremonial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no alterar accesos del Aula Magna · desacople sísmico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 ↔ Fracción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crujía 52,00 m · tribuna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desacople sísmico · coordinación de actos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 ↔ Fracción 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flujo diario de cadetes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ruta protegida durante la obra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 ↔ EXT-CTC-15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corredores techados perimetrales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franja de transición 1,00 m · drenaje de faldones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 ↔ red PCI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hidrante/toma siamesa borde Norte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válvula de seccionamiento · coord. P04 Cap. 12.4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 ↔ CDP Torre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telemetría, CCTV, telegestión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canalización de reserva · VLAN de instrumentación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Especificaciones técnicas: contenido mínimo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Dieciséis capítulos para la ingeniería de detalle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01 Condiciones generales y seguridad con campus operativo · 02 Replanteo, TLS y BM-UMC-01 · 03 Diagnóstico y ensayos in situ · 04 Demolición controlada y gestión patrimonial de escombros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05 Saneamiento geotécnico y geotextiles · 06 Colectores PEAD SN8 y estanqueidad · 07 Pavimento rígido: vaciado, curado, juntas y sellos · 08 Reintegración del acabado granítico (junta-testigo)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09 Canaletas, rejillas C250 y tanquillas · 10 Asta Mayor: fundación, pedestal e izado · 11 Red eléctrica, tierra y SPDA · 12 Mástil OMM: fundación, instrumentación y calibración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13 Señalización R-1 y accesibilidad · 14 Paisajismo halófilo · 15 Monitorización IoT del gemelo · 16 Comisionamiento de alumbrado y drenaje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Cómputos métricos preliminares (BOQ Rev.0)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Partidas E1–E6 de la Ficha · no contractuales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7295" cy="304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Partida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Descripción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Cantidad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Asignación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E1.01 / E1.02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Retiro D3 + reparación 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680,00 + 565,00 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P05-neto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E2.01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Saneamiento de subbase y rellenos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≈ 1.245,00 m²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P05-neto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E3.01 / E3.02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Losa nueva + sellado de juntas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680,00 m² + 980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P05-neto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E3.03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Asta Mayor: fundación, pedestal, podio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gl (USD 38.500)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P05-neto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E4.01 / E4.02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Drenaje completo + hidrante PCI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gl (USD 112.000 + 14.500)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P05-neto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E5.01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Eléctrica integral + tierra + SPDA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gl (USD 96.000)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P05-neto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E6.01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Señalización, paisajismo, comisionamiento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gl (USD 28.395)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P05-neto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Borde occidental (pavimento + juntas + Banda)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380,00 m²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0334A"/>
                          </a:solidFill>
                        </a:rPr>
                        <a:t>P04 (EXCLUIDO)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8134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>
                <a:solidFill>
                  <a:srgbClr val="8A9AAA"/>
                </a:solidFill>
                <a:latin typeface="Calibri"/>
              </a:rPr>
              <a:t>El mástil OMM y su instrumentación van en partida separada de equipos (RFI-OMM-01). Métricas a re-derivar del TLS y la geotecnia.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Inversión estimada (ROM — AACE Clase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USD referencial · exactitud −25 % / +40 %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895.000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USD · ROM integral (1.625 m²)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7671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7671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7671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−330.000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7671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USD ya en P04-R02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2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2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565.000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USD · NETO adicional P05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8613" y="1280160"/>
            <a:ext cx="2695879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8613" y="1280160"/>
            <a:ext cx="2695879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8613" y="1408176"/>
            <a:ext cx="2695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490 – 720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8613" y="1828800"/>
            <a:ext cx="2695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kUSD · rango neto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11094415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Composición del integral: 765.000 directo + 53.550 ingeniería y ensayos (7,0 %) + 76.450 contingencia (10 % nominal = 76.500; redondeo de cierre declarado).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Rango integral: USD 750.000 – 1.120.000 · 470,77 USD/m² (integral) · 550,77 USD/m² con cargas.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Precios unitarios a sustituir por cotizaciones locales en la ingeniería de detalle; actualización trimestral.</a:t>
            </a:r>
          </a:p>
        </p:txBody>
      </p:sp>
      <p:pic>
        <p:nvPicPr>
          <p:cNvPr id="23" name="Picture 22" descr="UMC2030-P05-EXTPCH-R01_FIGURA-G13_ROM-EN-CASC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8" y="3767328"/>
            <a:ext cx="4114799" cy="2633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Cronograma de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≈ 9 meses en cinco fases con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A Estudios previos (≈ 2,0 meses) → gate: geotecnia cierra RFI-GEOT-01 · B Demolición controlada (≈ 2,0) → gate: borde Babor consolidado por P04 · C Subbase y colectores (≈ 2,5) → gate: estanqueidad aprobada · D Pavimento (≈ 3,0) → gate: paños piloto aprobados · E Asta, eléctrica y comisionamiento (≈ 1,5).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Restricciones duras: secuencia P04 → borde Babor; calendario académico-ceremonial (graduaciones); ventana de lluvias (subbase nunca abierta en pico pluvial); punto R-1 alterno operativo toda la obra.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Procuración de largo plazo: rejillas C250 AISI 316, luminarias marinas, asta e instrumentación OMM.</a:t>
            </a:r>
          </a:p>
        </p:txBody>
      </p:sp>
      <p:pic>
        <p:nvPicPr>
          <p:cNvPr id="7" name="Picture 6" descr="UMC2030-P05-EXTPCH-R01_FIGURA-G14_CRONOGRAMA-DE-FASES-CON-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404" y="3319272"/>
            <a:ext cx="4814887" cy="3081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Riesgos y organización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Once riesgos gestionados · equipo de trece especialistas (A0–A12)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Mayores (P×I): R02 colectores en peor estado (4×4) · R07 inhabilitación prolongada del R-1 (3×5) · R04 desfase del P04 bloquea el borde (3×4) · R05 pérdida de acabado histórico (3×4) · R10 demora permisológica (4×3).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Mitigaciones clave: videoinspección temprana, RFI-EVA-01 antes de obra, etapabilidad frente oriental primero, protocolo patrimonial de retiro con registro fotogramétrico, expediente patrimonial anticipado.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Organización: A0 dirección · A1 arquitectura patrimonial · A2 patología estructural · A3 geotecnia/pavimento · A4 hidráulica · A5 OMM · A6 eléctrica · A7 TIC · A8 costos/programación · A9 normativa · A10 control documental · A11 QA · A12 asesor legal-técnico.</a:t>
            </a:r>
          </a:p>
        </p:txBody>
      </p:sp>
      <p:pic>
        <p:nvPicPr>
          <p:cNvPr id="7" name="Picture 6" descr="UMC2030-P05-EXTPCH-R01_FIGURA-G15_MAPA-DE-RIES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47" y="3621024"/>
            <a:ext cx="4343400" cy="27797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Condición de emisión y límites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Lo que el Consejo Universitario debe conocer antes de aprobar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NO ESTÁ DEFINIDO — Pavimento: sin geotecnia no hay espesor ni MR definitivos. Estructura: no hay cálculo ni armaduras. Instalaciones: no hay memorias firmadas. Cotas: no existe BM; alturas relativas al NPT ±0,000. Diagnóstico espacial: el mapa de daño por bandas es hipótesis sujeta a TLS.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SÍ ESTÁ DEFINIDO — Programa funcional completo con sumas de áreas exactas (1.625 = 380 + 1.245 ✔; 680 + 565 + 380 = 1.625 ✔). Geometría verificada sobre el archivo MOP. Doctrina patrimonial con distinguibilidad. ROM Clase 5 conciliado con P04 sin doble presupuestación. Cronograma con gates, matriz de riesgos y listado auditado E1 (26 láminas de 198 PDF · 77 de 487 fotos).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Las coordenadas consignadas son puntos de control sujetos a verificación topográfica.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Acuerdos que se solicitan al Consejo Universitario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Propuesta de resolución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1. APROBAR el expediente UMC2030-P05-EXTPCH-R01 como base de ingeniería básica para contratar TLS, geotecnia, videoinspección e ingeniería de detalle.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2. DESIGNAR de inmediato el punto de reunión R-1 alterno del Sector Proa (RFI-EVA-01, prioridad máxima), antes de cualquier obra.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3. ORDENAR el cierre de las RFI críticas (EVA-01, GEO-01, GEOT-01, PAT-01…04, NOR-01) como condición suspensiva para el inicio de obra.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4. RATIFICAR la secuencia P04 → borde Babor y formalizar el acta de transferencia de los 380,00 m² (RFI-ARE-05), manteniendo la deducción de USD 330.000.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5. RATIFICAR la doctrina patrimonial de intervención con junta-testigo datada y someterla al órgano de patrimonio cultural.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6. APROBAR la banda de inversión ROM: USD 895.000 integral / USD 565.000 neto adicional (AACE Clase 5) y su actualización trimestral.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0334A"/>
                </a:solidFill>
                <a:latin typeface="Calibri"/>
              </a:rPr>
              <a:t>•  7. DESIGNAR el proyectista habilitado y la instancia responsable de la coordinación de la Proa Central y de la custodia del Entorno Común de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Campus-Buque Digital UMC · La Cubierta de 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D9B64A"/>
                </a:solidFill>
                <a:latin typeface="Calibri"/>
              </a:rPr>
              <a:t>Una explanada patrimonial, una sola intervención: la ceremonia y la seguridad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1.625,00 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de intervención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5577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5577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5577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5577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del daño atendido (P05+P04)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3954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3954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3954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12,00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3954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asta del Pabellón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2331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22331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2331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≈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2331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meses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0708" y="1280160"/>
            <a:ext cx="2123785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10708" y="1280160"/>
            <a:ext cx="212378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708" y="1408176"/>
            <a:ext cx="212378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D2C54"/>
                </a:solidFill>
                <a:latin typeface="Calibri"/>
              </a:rPr>
              <a:t>1951 → 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708" y="1828800"/>
            <a:ext cx="21237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850" b="0">
                <a:solidFill>
                  <a:srgbClr val="56677A"/>
                </a:solidFill>
                <a:latin typeface="Calibri"/>
              </a:rPr>
              <a:t>continuidad patrimonial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31720"/>
            <a:ext cx="1109441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Restauración del pavimento ceremonial con reintegración del acabado de 1951, drenaje Tr 25, alumbrado marino, asta restituida, mástil OMM y punto R-1 rehabilitado.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Consejo Universitario UMC · Cap. Alt. / Dr. Guillermo Antonio Riut Hernández – Rector · Expediente UMC2030-P05-EXTPCH-R01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0334A"/>
                </a:solidFill>
                <a:latin typeface="Calibri"/>
              </a:rPr>
              <a:t>•  Fuente documental: Prof. Jhonny Da Silva Izquierdo (CIV 95787) · Proyectista: Por designar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750" b="1">
                <a:solidFill>
                  <a:srgbClr val="7A5900"/>
                </a:solidFill>
                <a:latin typeface="Calibri"/>
              </a:rPr>
              <a:t>INGENIERÍA BÁSICA / ANTEPROYECTO — EMITIDO PARA COORDINACIÓN Y PRESUPUESTO PRELIMINAR — NO APTO PARA CONSTRUCCIÓN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4255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8A9AAA"/>
                </a:solidFill>
                <a:latin typeface="Calibri"/>
              </a:rPr>
              <a:t>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