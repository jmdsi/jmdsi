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UNIVERSIDAD MARÍTIMA DEL CARIBE — MARINA MERCANTE DE VENEZUELA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PLAN MAESTRO 2025–2030 · PROYECTO DE PLANTA FÍSICA 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994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Presentación para el Consejo Universitario y el Rectorado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EDICIÓN CONSOLIDADA R05 · 26 de octubre de 2026 (actualiza la R04 del 14-09-2026)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Expedientes: UMC2030-P01-CTSTCW-R04 · P02-CDP-R04 · P03-VRA-R04 · P04-TOBSHM-R02 · P05-EXTPCH-R01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Cap. Alt. / Dr. Guillermo Antonio Riut Hernández — Rector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Plan Maestro: Prof. Jhonny Da Silva Izquierdo, MSc. Ing. Lic. (CIV 95787)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⚠ INGENIERÍA BÁSICA / ANTEPROYECTO — EMITIDO PARA COORDINACIÓN Y PRESUPUESTO PRELIMINAR — NO APTO PARA CONSTRUCCIÓN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NATURALEZA, ALCANCE Y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CÓMO LEER ESTA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803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QUÉ ES: ingeniería básica/anteproyecto de cinco expedientes del Plan Maestro, coordinados como un único modelo de implantación; instrumento para decidir (programa, superficies, ROM AACE Clase 5, programación, riesgos).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QUÉ NO ES: no es proyecto ejecutivo (sin cálculo estructural, memorias ni planos firmados); no es apto para replanteo ni construcción; no sustituye permisos; no acredita certificación del Centro de Datos.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NOVEDAD R05: incorpora la respuesta al doblete sísmico del 24-06-2026 (Mw 7,2 + Mw 7,5) — expedientes P04 (Torre de Observación y Sala Técnica, R02) y P05 (Patio / Cubierta de Honor, R01).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Todas las cifras son de anteproyecto; las condicionantes suspensivas se recogen al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CONTENIDO DE LA EXPOSICIÓN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994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1 · Marco y antecedentes — Plan Maestro 2030, situación actual, alcance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2 · El conjunto P01–P03 — implantación, corredor tecnológico-administrativo, síntesis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3 · Los tres proyectos — Torre A STCW · Torre B CDP · Vicerrectorado Administrativo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4 · NUEVO: el evento sísmico del 24-06-2026 y la Proa Central — P04 y P05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5 · Inversión y plazos — ROM Clase 5 consolidado, programación, priorización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6 · Riesgos y decisiones — condicionantes, RFI abiertas, acuerdos solicitados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INSTRUMENTO RECTOR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MARCO: EL PLAN MAESTRO UMC 2025–2030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Elaborado por el Prof. Jhonny Da Silva Izquierdo (MSc. Ing. Lic.) — zonificación del campus y doce proyectos estratégicos.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Proyecto Nº 1 — Centro Tecnológico STCW «Ecosistemas – Laboratorios Marítimos Integrados» (Torre A), con Biblioteca UMC.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Proyecto Nº 3 — Centro de Datos Principal CDP UMC Catia La Mar (Torre B), con Ciberseguridad y Sistemas.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Edificación de tres plantas para el Vicerrectorado Administrativo.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Proyectos complementarios: Talleres y Canal de Ensayos Hidrodinámicos, Piscina Olímpica, Aula Magna, sostenibilidad, señalización y paisajismo.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Patrimonio de la Proa Central (obra MOP 1951–1958, Arq. L. Malaussena): Torre de Observación, Sala Técnica y Patio / Cubierta de Honor — hoy objeto de los expedientes P04 y P05.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44768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AAA"/>
                </a:solidFill>
                <a:latin typeface="Calibri"/>
              </a:rPr>
              <a:t>Imágenes de zonificación y vistas satelitales: ver PDF fuente R04 en Drive (no reproducidas aquí).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SITUACIÓN DEL CAMPUS: 2024 →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803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2024: campus consolidado con déficit de simulación, laboratorios tecnológicos y servicios de gobierno; CDP actual sin condiciones para sostener la plataforma de simulación ni el Campus Virtual; enlace E-1 (CANTV) reubicable; sin residencias de Oficiales de Planta ni sala de seguridad integral.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Respuesta P01–P03: 3 edificaciones nuevas · 9.745,92 m² de obra nueva · corredor de ≈ 119,4 m.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24-06-2026 — DOBLETE SÍSMICO Mw 7,2 + Mw 7,5: afectación del litoral y del campus; la Proa Central ceremonial queda comprometida (Torre de Observación dañada, Patio de Honor inhabilitado, punto de evacuación R-1 suspendido).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Respuesta P04–P05: consolidación de la Torre/Sala (P04-R02) y restauración integral del Patio de Honor (P05-R01).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UNA SOLA IMPLANTACIÓN COORDINADA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EL CONJUNTO P01–P03: CORREDOR TECNOLÓGICO-ADMINISTRATIVO ≈ 119,4 m (E1→E2→E3)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994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Espina peatonal continua de 4,00 m que articula las tres edificaciones.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Corredor de redes enterrado único (MT/BT, fibra, datos, agua potable y contra-incendios).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Anillo vehicular y de emergencia de 6,00 m común · separación entre edificios ≈ 15 m (acceso de bomberos).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Un solo modelo de evacuación, señalización y seguridad perimetral.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Retícula modular compartida de 1,20 m · profundidad 21,60 m · corredor central 2,40 m · núcleo con dos escaleras y ascensor.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Regla rectora: ninguna obra puede modificar la implantación general sin revisión aprobada del Plan de Implantación.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44768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AAA"/>
                </a:solidFill>
                <a:latin typeface="Calibri"/>
              </a:rPr>
              <a:t>Lámina de implantación UMC-G-ARQ-001-R04 (escala 1:400): ver PDF fuente R04.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SUPERFICIES, NIVELES, USO E INVERSIÓN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SÍNTESIS DEL CONJUNTO P01–P03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81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Edificación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Planta (m²)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Niv.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Construido (m²)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Neta (m²)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Uso principal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ROM (M USD)</a:t>
                      </a:r>
                    </a:p>
                  </a:txBody>
                  <a:tcPr>
                    <a:solidFill>
                      <a:srgbClr val="0D2C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E1 · Vicerrectorado Administrativo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829,44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2.488,32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1.832,00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Gobierno, servicios y residencias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5,54 – 8,48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E2 · Centro Tecnológico STCW (Torre A)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933,12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3.732,48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2.734,00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Simulación marítima y Biblioteca UMC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12,43 – 20,19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E3 · Centro de Datos Principal (Torre 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881,28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3.525,12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2.619,00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CDP, ciberseguridad y campus virtual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11,21 – 18,51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Módulo Exterior de Pañoles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110,00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110,00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110,00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Deportes y equipo de buceo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334A"/>
                          </a:solidFill>
                        </a:rPr>
                        <a:t>incluido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TOTAL OBRA NUEVA P01–P03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9.745,92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7.295,00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334A"/>
                          </a:solidFill>
                        </a:rPr>
                        <a:t>29,18 – 47,18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44768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AAA"/>
                </a:solidFill>
                <a:latin typeface="Calibri"/>
              </a:rPr>
              <a:t>ROM AACE Clase 5 (−25 % / +40 %). Conceptos: «El Puente Tecnológico» (Torre A) · «Faro Digital» (Torre B) · «Gobierno y Bienestar» (VRA).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UMC2030-P01-CTSTCW-R04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TORRE A · CENTRO TECNOLÓGICO STCW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43,20 × 21,60 m por planta · 4 niveles + cubierta técnica · 3.732,48 m² construidos · coronación +18,00 m.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PB ±0,000: Biblioteca UMC, vestíbulo, ECDIS, GMDSS, EPIRB/SAR · N1 +4,200: Puente Full Mission 360°, VTS.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N2 +8,200: Sala de Máquinas (SSM), energía y propulsión, carga líquida, CFD · N3 +12,200: telecom, IA, Digital Twin, coworking.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Eficiencia neta/bruta 73,25 % (2.734,00 / 3.732,48 m²) — adecuada para recintos de simulación.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Decisión técnica: el Canal de Ensayos Hidrodinámicos (45×3×2 m ≈ 270 t) NO va en la Torre A; se mantiene en la remodelación de Talleres (UMC-P01-STCW-TAL) por cargas y geometría.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Los NUEVE componentes STCW del Plan Maestro se preservan íntegros (los nº 8 y 9 en Talleres, con justificación).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UMC2030-P02-CDP-R04 · PRIMERA OBRA A EJECUTAR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TORRE B · CENTRO DE DATOS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40,80 × 21,60 m por planta · 4 niveles · 3.525,12 m² construidos · cubierta +16,70 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PB: UPS, baterías, HVAC, Entrance Room, MMR, muelle · N1 +4,500: Data Hall Fase 1 (255 m²) + reserva (145 m²), NOC, CER.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N2 +8,700: Cyber Range, SOC académico, forense, IoT, OT/ICS · N3 +12,700: LMS/Moodle, cloud académico, multimedia.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Estándar normalizado a ANSI/TIA-942-C — Rated-1 (Basic), con reserva de evolución a Rated-2; sin declarar certificación.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PRIORIDAD ESTRATÉGICA: nodo de red del campus y condición habilitante del Campus Virtual, la simulación y los sistemas académico-administrativos.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UMC2030-P03-VRA-R04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E1 · VICERRECTORADO ADMINISTRATIVO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829,44 m² por planta · 3 niveles · 2.488,32 m² construidos · 1.832,00 m² netos.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Programa: gobierno universitario, servicios a la comunidad marítima, residencias de Oficiales de Planta y sala de seguridad integral.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Concepto «Gobierno y Bienestar» · vanos de 6,40 m sobre la retícula común de 1,20 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Módulo Exterior de Pañoles de 110,00 m² (deportes y equipo de buceo) resuelto fuera del volumen principal.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ROM: 5,54 – 8,48 M USD (AACE Clase 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NUEVO BLOQUE POST-SÍSMICO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24-06-2026: EL DOBLETE SÍSMICO Y LA PROA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Evento: Mw 7,2 + Mw 7,5 — afectación general; la Proa Central ceremonial (obra MOP 1951–1958) es la zona crítica.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Torre de Observación (CUL-TOO-02) y Sala Técnica (ACA-STH-15): daño estructural → expediente P04-TOBSHM-R02.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Patio / Cubierta de Honor (EXT-PCH-04): 1.625,00 m² INHABILITADOS; punto de evacuación R-1 del Sector Proa SUSPENDIDO sin alterno designado → RFI-EVA-01 (CRÍTICA).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El 100 % del pavimento presenta daño: D3 severo 680,00 m² · D2 moderado 565,00 m² · D4 inducido 380,00 m² (escombros de la Torre, borde Babor).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Acervo documental rescatado: 198 planos PDF + 487 fotografías (5 tubos portaplanos, inventario firmado 12-10-2026).</a:t>
            </a:r>
          </a:p>
        </p:txBody>
      </p:sp>
      <p:pic>
        <p:nvPicPr>
          <p:cNvPr id="7" name="Picture 6" descr="UMC2030-P05-EXTPCH-R01_FIGURA-G07_MAPA-DE-DANO-POST-SISMICO-D2-D3-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91" y="6217920"/>
            <a:ext cx="214312" cy="137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UMC2030-P04-TOBSHM-R02 (SÍNTESIS)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P04 · TORRE DE OBSERVACIÓN Y SALA 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3803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Consolidación estructural de la Torre (coronación +22,02 m; altura original 12,20 m en revisión — RFI-ALT-01) y de la Sala Técnica; estación hidrometeorológica asociada.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Alcance del borde Babor del patio incluido en su BOQ: 380,00 m² de pavimento y juntas (incl. Banda de Protocolo de 210,00 m²) — USD 330.000 (banda 260.000 – 400.000).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CONDICIÓN SUSPENSIVA para P05: la consolidación de la Torre precede a toda obra del borde occidental del patio.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Expediente y presentación propios ya emitidos (R02) — disponibles en el Drive institucional.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UMC2030-P05-EXTPCH-R01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P05 · PATIO / CUBIERTA DE HONOR — QUÉ SE RESTAURA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Restauración integral de la explanada ceremonial de 50,00 × 32,50 m: pavimento con reintegración del acabado granítico/martelinado 1951 (junta-testigo datada, sin falso histórico).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Saneamiento de subbase + sustitución de colectores PEAD SN8 (Ø300–400, 140 m) + 180 m de canaletas C250 + 8 tanquillas (Tr 25 años; Q 73,13/145 L/s).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Asta Mayor Ceremonial 12,00 m restaurada/repuesta · Mástil OMM 10,00 m · 12 luminarias LED IP66/IK10 · malla de tierra ≤ 5 Ω + SPDA IEC 62305 · señalización R-1 y accesibilidad.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Aforos: 1.300 cadetes en formación · 1.625 personas en actos · punto R-1 1.080–1.625.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Conciliación con P04: 380,00 m² EXCLUIDOS del BOQ P05 (regla de no doble presupuestación).</a:t>
            </a:r>
          </a:p>
        </p:txBody>
      </p:sp>
      <p:pic>
        <p:nvPicPr>
          <p:cNvPr id="7" name="Picture 6" descr="UMC2030-P05-EXTPCH-R01_FIGURA-G03_CONCILIACION-DE-AREAS-ANIDADAS-1-625-380-210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91" y="6217920"/>
            <a:ext cx="214312" cy="137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AACE CLASE 5 · USD REFERENCIAL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P05 · INVERSIÓN ROM EN CASCADA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266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ROM integral (1.625,00 m²): USD 895.000 = 765.000 directo + 53.550 ingeniería/ensayos (7 %) + 76.450 contingencia.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Rango integral: USD 750.000 – 1.120.000 (−25 % / +40 %).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(−) USD 330.000 ya presupuestados en P04-R02 (borde Babor) = PRESUPUESTO NETO ADICIONAL P05: USD 565.000.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334A"/>
                </a:solidFill>
                <a:latin typeface="Calibri"/>
              </a:rPr>
              <a:t>•  Rango neto: USD 490.000 – 720.000 · 470,77 USD/m² integral.</a:t>
            </a:r>
          </a:p>
        </p:txBody>
      </p:sp>
      <p:pic>
        <p:nvPicPr>
          <p:cNvPr id="7" name="Picture 6" descr="UMC2030-P05-EXTPCH-R01_FIGURA-G13_ROM-EN-CAS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201" y="4125772"/>
            <a:ext cx="3483292" cy="22293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PROGRAMACIÓN DE REFERENCIA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PLAZOS: CONJUNTO P01–P03 Y RESTAURACIÓN P05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P01–P03: ≈ 45–48 meses de ejecución del conjunto; Torre B priorizada como primera obra (nodo de red).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P05: ≈ 9 meses en 5 fases con gates — A estudios previos (2,0) · B demolición controlada (2,0) · C subbase y colectores (2,5) · D pavimento (3,0) · E asta, eléctrica y comisionamiento (1,5), con solapes.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Restricciones duras P05: secuencia P04 → borde Babor · calendario ceremonial (graduaciones) · ventana de lluvias · punto R-1 alterno operativo durante toda la obra.</a:t>
            </a:r>
          </a:p>
        </p:txBody>
      </p:sp>
      <p:pic>
        <p:nvPicPr>
          <p:cNvPr id="7" name="Picture 6" descr="UMC2030-P05-EXTPCH-R01_FIGURA-G14_CRONOGRAMA-DE-FASES-CON-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791" y="4315968"/>
            <a:ext cx="3186112" cy="2039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CONDICIONANTES Y RFI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RIESGOS Y DECISIONES PENDIENTES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Comunes P01–P03: topografía certificada (GEO-001/002), estudio geotécnico, Plan de Capacidad IT — condición suspensiva para inicio de obra.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Definido con precisión: programa verificado recinto a recinto, geometría modular, implantación de conjunto, ROM Clase 5, matriz de riesgos y gates 0–10.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NO definido aún: cimentaciones, cálculo estructural, memorias MEP, BM de cota, topografía de detalle.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P05 — RFI críticas: RFI-EVA-01 (punto R-1 alterno, MÁXIMA prioridad) · RFI-GEO-01 (BM-UMC-01) · RFI-GEOT-01 (subbase/colectores) · RFI-NOR-01 (vigencia normativa) · RFI-ARE-05 (acta de transferencia del borde a P04).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Coordenadas consignadas = puntos de control sujetos a verificación topográfica.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PROPUESTA DE RESOLUCIÓN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ACUERDOS QUE SE SOLICITAN AL CONSEJO UNIVERSITARIO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1 · APROBAR los expedientes de anteproyecto P01, P02 y P03 como base para contratar topografía, geotecnia e ingeniería de detalle.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2 · AUTORIZAR la priorización de la Torre B (CDP) como primera obra del conjunto.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3 · ORDENAR el cierre de las RFI críticas (GEO-001/002, geotécnica, Plan de Capacidad IT) como condición suspensiva.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4 · APROBAR la reubicación del Canal de Ensayos a Talleres y el Módulo de Pañoles de 110 m² · RATIFICAR ANSI/TIA-942-C Rated-1 con reserva Rated-2.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5 · APROBAR la banda ROM consolidada: 29,18 – 47,18 M USD (P01–P03) + USD 0,565 M netos (P05) + alcance P04 según su expediente R02, con actualización trimestral.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6 · NUEVO — DESIGNAR el punto de reunión R-1 alterno del Sector Proa (RFI-EVA-01) ANTES de cualquier obra en el patio.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0334A"/>
                </a:solidFill>
                <a:latin typeface="Calibri"/>
              </a:rPr>
              <a:t>•  7 · NUEVO — RATIFICAR la secuencia P04 → borde Babor y el acta de transferencia de los 380,00 m² (RFI-ARE-05); DESIGNAR proyectista habilitado y custodio del Entorno Común de Datos.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B64A"/>
                </a:solidFill>
                <a:latin typeface="Calibri"/>
              </a:rPr>
              <a:t>CAMPUS-BUQUE DIGITAL UMC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858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Cinco expedientes, un solo conjunto: el corredor tecnológico-administrativo (9.745,92 m² de obra nueva, 7.295,00 m² netos) y la Proa Central ceremonial restaurada (1.625,00 m² patrimoniales).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La formación marítima de Venezuela articulada con la infraestructura digital del siglo XXI — y con su patrimonio moderno de 1951 recuperado.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Cap. Alt. / Dr. Guillermo Antonio Riut Hernández — Rector · Consejo Universitario UMC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Expedientes UMC2030-P01-CTSTCW-R04 · P02-CDP-R04 · P03-VRA-R04 · P04-TOBSHM-R02 · P05-EXTPCH-R01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334A"/>
                </a:solidFill>
                <a:latin typeface="Calibri"/>
              </a:rPr>
              <a:t>•  ⚠ INGENIERÍA BÁSICA / ANTEPROYECTO — EMITIDO PARA COORDINACIÓN Y PRESUPUESTO PRELIMINAR — NO APTO PARA CONSTRUCCIÓN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1">
                <a:solidFill>
                  <a:srgbClr val="7A5900"/>
                </a:solidFill>
                <a:latin typeface="Calibri"/>
              </a:rPr>
              <a:t>NO APTO PARA CONSTRUCCIÓN · Uso institucional UMC – Marina Mercante de Venezuela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800" b="0">
                <a:solidFill>
                  <a:srgbClr val="8A9AAA"/>
                </a:solidFill>
                <a:latin typeface="Calibri"/>
              </a:rPr>
              <a:t>R05 · 26 de octubre de 2026 ·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